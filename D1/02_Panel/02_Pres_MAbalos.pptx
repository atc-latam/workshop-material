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Raleway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  <p:embeddedFont>
      <p:font typeface="Lato Light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3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5.xml"/><Relationship Id="rId44" Type="http://schemas.openxmlformats.org/officeDocument/2006/relationships/font" Target="fonts/LatoLight-bold.fntdata"/><Relationship Id="rId21" Type="http://schemas.openxmlformats.org/officeDocument/2006/relationships/slide" Target="slides/slide14.xml"/><Relationship Id="rId43" Type="http://schemas.openxmlformats.org/officeDocument/2006/relationships/font" Target="fonts/LatoLight-regular.fntdata"/><Relationship Id="rId24" Type="http://schemas.openxmlformats.org/officeDocument/2006/relationships/slide" Target="slides/slide17.xml"/><Relationship Id="rId46" Type="http://schemas.openxmlformats.org/officeDocument/2006/relationships/font" Target="fonts/LatoLight-boldItalic.fntdata"/><Relationship Id="rId23" Type="http://schemas.openxmlformats.org/officeDocument/2006/relationships/slide" Target="slides/slide16.xml"/><Relationship Id="rId45" Type="http://schemas.openxmlformats.org/officeDocument/2006/relationships/font" Target="fonts/Lato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Raleway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Raleway-italic.fntdata"/><Relationship Id="rId14" Type="http://schemas.openxmlformats.org/officeDocument/2006/relationships/slide" Target="slides/slide7.xml"/><Relationship Id="rId36" Type="http://schemas.openxmlformats.org/officeDocument/2006/relationships/font" Target="fonts/Raleway-bold.fntdata"/><Relationship Id="rId17" Type="http://schemas.openxmlformats.org/officeDocument/2006/relationships/slide" Target="slides/slide10.xml"/><Relationship Id="rId39" Type="http://schemas.openxmlformats.org/officeDocument/2006/relationships/font" Target="fonts/Lato-regular.fntdata"/><Relationship Id="rId16" Type="http://schemas.openxmlformats.org/officeDocument/2006/relationships/slide" Target="slides/slide9.xml"/><Relationship Id="rId38" Type="http://schemas.openxmlformats.org/officeDocument/2006/relationships/font" Target="fonts/Raleway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niversityworldnews.com/post.php?story=20220129062323881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9b5c1009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b9b5c1009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9b5c100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9b5c100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9ec7c4315_1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9ec7c4315_1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9b5c1009d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9b5c1009d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</a:rPr>
              <a:t>para comenzar les quiero contar una historia que es muy pertinente para chile, a pesar de no ser un caso chileno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9ec7c4315_1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9ec7c4315_1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</a:rPr>
              <a:t>para comenzar les quiero contar una historia que es muy pertinente para chile, a pesar de no ser un caso chileno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9ec7c431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9ec7c431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9f667764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9f667764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9f667764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9f667764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9f667764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9f667764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9ec7c4315_1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b9ec7c4315_1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9ec7c4315_1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9ec7c4315_1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9ec7c4315_1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9ec7c4315_1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9ec7c4315_1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9ec7c4315_1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b9ec7c4315_1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b9ec7c4315_1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9ec7c4315_1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b9ec7c4315_1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9f66776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9f66776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9f667764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9f667764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9f667764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b9f667764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9f667764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b9f667764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9f667764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b9f667764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9f667764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b9f667764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9f667764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b9f667764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9f667764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b9f667764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9f667764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b9f667764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b9f667764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b9f667764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2"/>
              </a:rPr>
              <a:t>https://www.universityworldnews.com/post.php?story=20220129062323881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9ec7c4315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b9ec7c4315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9ec7c4315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b9ec7c4315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1" name="Google Shape;10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4" name="Google Shape;1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3" name="Google Shape;13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22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/>
        </p:nvSpPr>
        <p:spPr>
          <a:xfrm>
            <a:off x="1238525" y="3390739"/>
            <a:ext cx="6001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Bióloga, magíster en periodismo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Comunicadora científica y Presidenta de ACHIPEC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@mabalos</a:t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37"/>
          <p:cNvSpPr txBox="1"/>
          <p:nvPr/>
        </p:nvSpPr>
        <p:spPr>
          <a:xfrm>
            <a:off x="1214850" y="2928175"/>
            <a:ext cx="49989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Macarena Rojas Abalos</a:t>
            </a:r>
            <a:endParaRPr b="1" i="0" sz="14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6" name="Google Shape;146;p37"/>
          <p:cNvSpPr/>
          <p:nvPr/>
        </p:nvSpPr>
        <p:spPr>
          <a:xfrm>
            <a:off x="9486350" y="3997725"/>
            <a:ext cx="282300" cy="282300"/>
          </a:xfrm>
          <a:prstGeom prst="rect">
            <a:avLst/>
          </a:prstGeom>
          <a:solidFill>
            <a:srgbClr val="5FC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37"/>
          <p:cNvCxnSpPr/>
          <p:nvPr/>
        </p:nvCxnSpPr>
        <p:spPr>
          <a:xfrm>
            <a:off x="1336750" y="3324875"/>
            <a:ext cx="3918000" cy="0"/>
          </a:xfrm>
          <a:prstGeom prst="straightConnector1">
            <a:avLst/>
          </a:prstGeom>
          <a:noFill/>
          <a:ln cap="flat" cmpd="sng" w="19050">
            <a:solidFill>
              <a:srgbClr val="FFCA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37"/>
          <p:cNvSpPr/>
          <p:nvPr/>
        </p:nvSpPr>
        <p:spPr>
          <a:xfrm>
            <a:off x="0" y="4154075"/>
            <a:ext cx="419100" cy="98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7"/>
          <p:cNvSpPr/>
          <p:nvPr/>
        </p:nvSpPr>
        <p:spPr>
          <a:xfrm>
            <a:off x="8724900" y="0"/>
            <a:ext cx="419100" cy="98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37"/>
          <p:cNvGrpSpPr/>
          <p:nvPr/>
        </p:nvGrpSpPr>
        <p:grpSpPr>
          <a:xfrm>
            <a:off x="1347756" y="3861378"/>
            <a:ext cx="206042" cy="180373"/>
            <a:chOff x="3303268" y="3817349"/>
            <a:chExt cx="346056" cy="345674"/>
          </a:xfrm>
        </p:grpSpPr>
        <p:sp>
          <p:nvSpPr>
            <p:cNvPr id="151" name="Google Shape;151;p37"/>
            <p:cNvSpPr/>
            <p:nvPr/>
          </p:nvSpPr>
          <p:spPr>
            <a:xfrm>
              <a:off x="3303268" y="3817349"/>
              <a:ext cx="346056" cy="345674"/>
            </a:xfrm>
            <a:custGeom>
              <a:rect b="b" l="l" r="r" t="t"/>
              <a:pathLst>
                <a:path extrusionOk="0" h="10860" w="10872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7"/>
            <p:cNvSpPr/>
            <p:nvPr/>
          </p:nvSpPr>
          <p:spPr>
            <a:xfrm>
              <a:off x="3368074" y="3882537"/>
              <a:ext cx="215298" cy="215298"/>
            </a:xfrm>
            <a:custGeom>
              <a:rect b="b" l="l" r="r" t="t"/>
              <a:pathLst>
                <a:path extrusionOk="0" h="6764" w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7"/>
            <p:cNvSpPr/>
            <p:nvPr/>
          </p:nvSpPr>
          <p:spPr>
            <a:xfrm>
              <a:off x="3418143" y="3933656"/>
              <a:ext cx="114811" cy="112742"/>
            </a:xfrm>
            <a:custGeom>
              <a:rect b="b" l="l" r="r" t="t"/>
              <a:pathLst>
                <a:path extrusionOk="0" h="3542" w="3607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7"/>
            <p:cNvSpPr/>
            <p:nvPr/>
          </p:nvSpPr>
          <p:spPr>
            <a:xfrm>
              <a:off x="3519298" y="3910197"/>
              <a:ext cx="29570" cy="29220"/>
            </a:xfrm>
            <a:custGeom>
              <a:rect b="b" l="l" r="r" t="t"/>
              <a:pathLst>
                <a:path extrusionOk="0" h="918" w="929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37"/>
          <p:cNvSpPr txBox="1"/>
          <p:nvPr/>
        </p:nvSpPr>
        <p:spPr>
          <a:xfrm>
            <a:off x="1266175" y="461125"/>
            <a:ext cx="72513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" sz="1800">
                <a:solidFill>
                  <a:srgbClr val="FEBE42"/>
                </a:solidFill>
                <a:latin typeface="Raleway"/>
                <a:ea typeface="Raleway"/>
                <a:cs typeface="Raleway"/>
                <a:sym typeface="Raleway"/>
              </a:rPr>
              <a:t>Dimensiones éticas e institucionales de la Ciencia Abierta</a:t>
            </a:r>
            <a:endParaRPr b="1" i="0" sz="1800" u="none" cap="none" strike="noStrike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" name="Google Shape;156;p37"/>
          <p:cNvSpPr txBox="1"/>
          <p:nvPr/>
        </p:nvSpPr>
        <p:spPr>
          <a:xfrm>
            <a:off x="1182250" y="907575"/>
            <a:ext cx="7666200" cy="16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" sz="5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UNA MIRADA DESDE LAS COMUNICACIONES</a:t>
            </a:r>
            <a:endParaRPr b="1" i="0" sz="52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" name="Google Shape;157;p37"/>
          <p:cNvSpPr/>
          <p:nvPr/>
        </p:nvSpPr>
        <p:spPr>
          <a:xfrm>
            <a:off x="878988" y="567038"/>
            <a:ext cx="206025" cy="316119"/>
          </a:xfrm>
          <a:custGeom>
            <a:rect b="b" l="l" r="r" t="t"/>
            <a:pathLst>
              <a:path extrusionOk="0" h="16339" w="8241">
                <a:moveTo>
                  <a:pt x="0" y="0"/>
                </a:moveTo>
                <a:lnTo>
                  <a:pt x="8241" y="8241"/>
                </a:lnTo>
                <a:lnTo>
                  <a:pt x="142" y="16339"/>
                </a:lnTo>
              </a:path>
            </a:pathLst>
          </a:cu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37"/>
          <p:cNvSpPr/>
          <p:nvPr/>
        </p:nvSpPr>
        <p:spPr>
          <a:xfrm>
            <a:off x="1008813" y="567038"/>
            <a:ext cx="206025" cy="316119"/>
          </a:xfrm>
          <a:custGeom>
            <a:rect b="b" l="l" r="r" t="t"/>
            <a:pathLst>
              <a:path extrusionOk="0" h="16339" w="8241">
                <a:moveTo>
                  <a:pt x="0" y="0"/>
                </a:moveTo>
                <a:lnTo>
                  <a:pt x="8241" y="8241"/>
                </a:lnTo>
                <a:lnTo>
                  <a:pt x="142" y="16339"/>
                </a:lnTo>
              </a:path>
            </a:pathLst>
          </a:cu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37"/>
          <p:cNvSpPr/>
          <p:nvPr/>
        </p:nvSpPr>
        <p:spPr>
          <a:xfrm>
            <a:off x="1291050" y="2606457"/>
            <a:ext cx="56700" cy="56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7"/>
          <p:cNvSpPr/>
          <p:nvPr/>
        </p:nvSpPr>
        <p:spPr>
          <a:xfrm>
            <a:off x="2183025" y="2606457"/>
            <a:ext cx="56700" cy="56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7"/>
          <p:cNvSpPr/>
          <p:nvPr/>
        </p:nvSpPr>
        <p:spPr>
          <a:xfrm>
            <a:off x="3075000" y="2606457"/>
            <a:ext cx="56700" cy="56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7"/>
          <p:cNvSpPr/>
          <p:nvPr/>
        </p:nvSpPr>
        <p:spPr>
          <a:xfrm>
            <a:off x="3966975" y="2606457"/>
            <a:ext cx="56700" cy="56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8"/>
          <p:cNvSpPr txBox="1"/>
          <p:nvPr/>
        </p:nvSpPr>
        <p:spPr>
          <a:xfrm>
            <a:off x="63350" y="224275"/>
            <a:ext cx="248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" sz="1829">
                <a:solidFill>
                  <a:srgbClr val="EFEFEF"/>
                </a:solidFill>
                <a:latin typeface="Lato Light"/>
                <a:ea typeface="Lato Light"/>
                <a:cs typeface="Lato Light"/>
                <a:sym typeface="Lato Light"/>
              </a:rPr>
              <a:t>Punto de Partida</a:t>
            </a:r>
            <a:endParaRPr sz="2020">
              <a:solidFill>
                <a:srgbClr val="F3F3F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68" name="Google Shape;168;p38"/>
          <p:cNvSpPr txBox="1"/>
          <p:nvPr/>
        </p:nvSpPr>
        <p:spPr>
          <a:xfrm>
            <a:off x="63350" y="52965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¿Ciencia Abierta para la sociedad?</a:t>
            </a:r>
            <a:endParaRPr b="1" sz="272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9"/>
          <p:cNvSpPr txBox="1"/>
          <p:nvPr>
            <p:ph idx="1" type="body"/>
          </p:nvPr>
        </p:nvSpPr>
        <p:spPr>
          <a:xfrm>
            <a:off x="311700" y="1500390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700"/>
              <a:buChar char="●"/>
            </a:pPr>
            <a:r>
              <a:rPr lang="es" sz="1700">
                <a:solidFill>
                  <a:srgbClr val="EFEFEF"/>
                </a:solidFill>
              </a:rPr>
              <a:t>La ciencia abierta no es solo acceso</a:t>
            </a:r>
            <a:endParaRPr sz="1700">
              <a:solidFill>
                <a:srgbClr val="EFEFEF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1000"/>
              </a:spcAft>
              <a:buClr>
                <a:srgbClr val="EFEFEF"/>
              </a:buClr>
              <a:buSzPts val="1700"/>
              <a:buChar char="●"/>
            </a:pPr>
            <a:r>
              <a:rPr lang="es" sz="1700">
                <a:solidFill>
                  <a:srgbClr val="EFEFEF"/>
                </a:solidFill>
              </a:rPr>
              <a:t>Práctica ética de circulación del conocimiento</a:t>
            </a:r>
            <a:endParaRPr sz="1700">
              <a:solidFill>
                <a:srgbClr val="EFEFEF"/>
              </a:solidFill>
            </a:endParaRPr>
          </a:p>
        </p:txBody>
      </p:sp>
      <p:sp>
        <p:nvSpPr>
          <p:cNvPr id="174" name="Google Shape;174;p39"/>
          <p:cNvSpPr txBox="1"/>
          <p:nvPr/>
        </p:nvSpPr>
        <p:spPr>
          <a:xfrm>
            <a:off x="63350" y="224275"/>
            <a:ext cx="248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" sz="1829">
                <a:solidFill>
                  <a:srgbClr val="EFEFEF"/>
                </a:solidFill>
                <a:latin typeface="Lato Light"/>
                <a:ea typeface="Lato Light"/>
                <a:cs typeface="Lato Light"/>
                <a:sym typeface="Lato Light"/>
              </a:rPr>
              <a:t>Punto de Partida</a:t>
            </a:r>
            <a:endParaRPr sz="2020">
              <a:solidFill>
                <a:srgbClr val="F3F3F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5" name="Google Shape;175;p39"/>
          <p:cNvSpPr txBox="1"/>
          <p:nvPr/>
        </p:nvSpPr>
        <p:spPr>
          <a:xfrm>
            <a:off x="63350" y="52965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¿Ciencia Abierta para la sociedad?</a:t>
            </a:r>
            <a:endParaRPr b="1" sz="272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0"/>
          <p:cNvSpPr txBox="1"/>
          <p:nvPr>
            <p:ph type="title"/>
          </p:nvPr>
        </p:nvSpPr>
        <p:spPr>
          <a:xfrm>
            <a:off x="63350" y="539056"/>
            <a:ext cx="886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990"/>
              <a:buNone/>
            </a:pPr>
            <a:r>
              <a:rPr b="1" lang="es" sz="2530">
                <a:solidFill>
                  <a:srgbClr val="EFEFEF"/>
                </a:solidFill>
              </a:rPr>
              <a:t>Interfaz ciencia, instituciones, medios y comunidades</a:t>
            </a:r>
            <a:endParaRPr b="1" sz="2720">
              <a:solidFill>
                <a:srgbClr val="F3F3F3"/>
              </a:solidFill>
            </a:endParaRPr>
          </a:p>
        </p:txBody>
      </p:sp>
      <p:sp>
        <p:nvSpPr>
          <p:cNvPr id="181" name="Google Shape;181;p40"/>
          <p:cNvSpPr txBox="1"/>
          <p:nvPr>
            <p:ph type="title"/>
          </p:nvPr>
        </p:nvSpPr>
        <p:spPr>
          <a:xfrm>
            <a:off x="63350" y="224275"/>
            <a:ext cx="545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990"/>
              <a:buNone/>
            </a:pPr>
            <a:r>
              <a:rPr lang="es" sz="1829">
                <a:solidFill>
                  <a:srgbClr val="EFEFEF"/>
                </a:solidFill>
                <a:latin typeface="Lato Light"/>
                <a:ea typeface="Lato Light"/>
                <a:cs typeface="Lato Light"/>
                <a:sym typeface="Lato Light"/>
              </a:rPr>
              <a:t>Comunicación de la ciencia </a:t>
            </a:r>
            <a:endParaRPr sz="2020">
              <a:solidFill>
                <a:srgbClr val="F3F3F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41" title="calle.jpeg"/>
          <p:cNvPicPr preferRelativeResize="0"/>
          <p:nvPr/>
        </p:nvPicPr>
        <p:blipFill rotWithShape="1">
          <a:blip r:embed="rId3">
            <a:alphaModFix/>
          </a:blip>
          <a:srcRect b="8775" l="0" r="0" t="12657"/>
          <a:stretch/>
        </p:blipFill>
        <p:spPr>
          <a:xfrm>
            <a:off x="678950" y="1362674"/>
            <a:ext cx="3504600" cy="172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1"/>
          <p:cNvPicPr preferRelativeResize="0"/>
          <p:nvPr/>
        </p:nvPicPr>
        <p:blipFill rotWithShape="1">
          <a:blip r:embed="rId4">
            <a:alphaModFix/>
          </a:blip>
          <a:srcRect b="5939" l="5439" r="6548" t="1835"/>
          <a:stretch/>
        </p:blipFill>
        <p:spPr>
          <a:xfrm>
            <a:off x="672200" y="2971475"/>
            <a:ext cx="2523498" cy="161265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1"/>
          <p:cNvSpPr txBox="1"/>
          <p:nvPr>
            <p:ph type="title"/>
          </p:nvPr>
        </p:nvSpPr>
        <p:spPr>
          <a:xfrm>
            <a:off x="63350" y="539056"/>
            <a:ext cx="886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990"/>
              <a:buNone/>
            </a:pPr>
            <a:r>
              <a:rPr b="1" lang="es" sz="2530">
                <a:solidFill>
                  <a:srgbClr val="EFEFEF"/>
                </a:solidFill>
              </a:rPr>
              <a:t>Interfaz ciencia, instituciones, medios y comunidades</a:t>
            </a:r>
            <a:endParaRPr b="1" sz="2720">
              <a:solidFill>
                <a:srgbClr val="F3F3F3"/>
              </a:solidFill>
            </a:endParaRPr>
          </a:p>
        </p:txBody>
      </p:sp>
      <p:sp>
        <p:nvSpPr>
          <p:cNvPr id="189" name="Google Shape;189;p41"/>
          <p:cNvSpPr txBox="1"/>
          <p:nvPr>
            <p:ph type="title"/>
          </p:nvPr>
        </p:nvSpPr>
        <p:spPr>
          <a:xfrm>
            <a:off x="63350" y="224275"/>
            <a:ext cx="545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990"/>
              <a:buNone/>
            </a:pPr>
            <a:r>
              <a:rPr lang="es" sz="1829">
                <a:solidFill>
                  <a:srgbClr val="EFEFEF"/>
                </a:solidFill>
                <a:latin typeface="Lato Light"/>
                <a:ea typeface="Lato Light"/>
                <a:cs typeface="Lato Light"/>
                <a:sym typeface="Lato Light"/>
              </a:rPr>
              <a:t>Comunicación de la ciencia </a:t>
            </a:r>
            <a:endParaRPr sz="2020">
              <a:solidFill>
                <a:srgbClr val="F3F3F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90" name="Google Shape;190;p41"/>
          <p:cNvSpPr txBox="1"/>
          <p:nvPr/>
        </p:nvSpPr>
        <p:spPr>
          <a:xfrm>
            <a:off x="5980600" y="1524750"/>
            <a:ext cx="2632800" cy="30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</a:pPr>
            <a:r>
              <a:rPr lang="es" sz="1800">
                <a:solidFill>
                  <a:schemeClr val="lt2"/>
                </a:solidFill>
              </a:rPr>
              <a:t>Qué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</a:pPr>
            <a:r>
              <a:rPr lang="es" sz="1800">
                <a:solidFill>
                  <a:schemeClr val="lt2"/>
                </a:solidFill>
              </a:rPr>
              <a:t>Cómo</a:t>
            </a:r>
            <a:endParaRPr sz="1800">
              <a:solidFill>
                <a:schemeClr val="lt2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-"/>
            </a:pPr>
            <a:r>
              <a:rPr lang="es" sz="1800">
                <a:solidFill>
                  <a:schemeClr val="lt2"/>
                </a:solidFill>
              </a:rPr>
              <a:t>Quién</a:t>
            </a:r>
            <a:endParaRPr sz="1800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 </a:t>
            </a:r>
            <a:r>
              <a:rPr lang="es" sz="1600">
                <a:solidFill>
                  <a:schemeClr val="lt2"/>
                </a:solidFill>
              </a:rPr>
              <a:t>puede comprender</a:t>
            </a:r>
            <a:endParaRPr sz="1600">
              <a:solidFill>
                <a:schemeClr val="lt2"/>
              </a:solidFill>
            </a:endParaRPr>
          </a:p>
        </p:txBody>
      </p:sp>
      <p:pic>
        <p:nvPicPr>
          <p:cNvPr id="191" name="Google Shape;191;p41" title="Captura de pantalla 2026-01-22 a las 08.36.25.png"/>
          <p:cNvPicPr preferRelativeResize="0"/>
          <p:nvPr/>
        </p:nvPicPr>
        <p:blipFill rotWithShape="1">
          <a:blip r:embed="rId5">
            <a:alphaModFix/>
          </a:blip>
          <a:srcRect b="-9" l="0" r="0" t="6050"/>
          <a:stretch/>
        </p:blipFill>
        <p:spPr>
          <a:xfrm>
            <a:off x="3192775" y="2938626"/>
            <a:ext cx="2878524" cy="166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41" title="Captura de pantalla 2026-01-22 a las 08.40.30.png"/>
          <p:cNvPicPr preferRelativeResize="0"/>
          <p:nvPr/>
        </p:nvPicPr>
        <p:blipFill rotWithShape="1">
          <a:blip r:embed="rId6">
            <a:alphaModFix/>
          </a:blip>
          <a:srcRect b="4187" l="0" r="0" t="0"/>
          <a:stretch/>
        </p:blipFill>
        <p:spPr>
          <a:xfrm>
            <a:off x="3192775" y="1360226"/>
            <a:ext cx="2878526" cy="161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2"/>
          <p:cNvSpPr txBox="1"/>
          <p:nvPr/>
        </p:nvSpPr>
        <p:spPr>
          <a:xfrm>
            <a:off x="498116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Equidad en el acceso y en la participación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8" name="Google Shape;198;p42"/>
          <p:cNvSpPr txBox="1"/>
          <p:nvPr/>
        </p:nvSpPr>
        <p:spPr>
          <a:xfrm>
            <a:off x="498125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Acceso ≠ Equidad</a:t>
            </a:r>
            <a:endParaRPr b="1" sz="272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3"/>
          <p:cNvSpPr txBox="1"/>
          <p:nvPr/>
        </p:nvSpPr>
        <p:spPr>
          <a:xfrm>
            <a:off x="498116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Equidad en el acceso y en la participación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4" name="Google Shape;204;p43"/>
          <p:cNvSpPr txBox="1"/>
          <p:nvPr/>
        </p:nvSpPr>
        <p:spPr>
          <a:xfrm>
            <a:off x="498125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Acceso ≠ Equidad</a:t>
            </a:r>
            <a:endParaRPr b="1" sz="2720">
              <a:solidFill>
                <a:srgbClr val="F3F3F3"/>
              </a:solidFill>
            </a:endParaRPr>
          </a:p>
        </p:txBody>
      </p:sp>
      <p:pic>
        <p:nvPicPr>
          <p:cNvPr descr="Gráfico de respuestas de formularios. Título de la pregunta: ¿Cuán familiar te es el término de reproducibilidad al momento de elaborar un artículo científico?. Número de respuestas: 112 respuestas." id="205" name="Google Shape;205;p43" title="¿Cuán familiar te es el término de reproducibilidad al momento de elaborar un artículo científico?"/>
          <p:cNvPicPr preferRelativeResize="0"/>
          <p:nvPr/>
        </p:nvPicPr>
        <p:blipFill rotWithShape="1">
          <a:blip r:embed="rId3">
            <a:alphaModFix/>
          </a:blip>
          <a:srcRect b="0" l="1995" r="2530" t="0"/>
          <a:stretch/>
        </p:blipFill>
        <p:spPr>
          <a:xfrm>
            <a:off x="198889" y="1953879"/>
            <a:ext cx="4201252" cy="185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respuestas de formularios. Título de la pregunta: ¿Ha oído hablar de la &quot;crisis de reproducibilidad en la ciencia?. Número de respuestas: 112 respuestas." id="206" name="Google Shape;206;p43" title="¿Ha oído hablar de la &quot;crisis de reproducibilidad en la ciencia?"/>
          <p:cNvPicPr preferRelativeResize="0"/>
          <p:nvPr/>
        </p:nvPicPr>
        <p:blipFill rotWithShape="1">
          <a:blip r:embed="rId4">
            <a:alphaModFix/>
          </a:blip>
          <a:srcRect b="0" l="2260" r="7306" t="0"/>
          <a:stretch/>
        </p:blipFill>
        <p:spPr>
          <a:xfrm>
            <a:off x="4572000" y="1869942"/>
            <a:ext cx="4340572" cy="202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4"/>
          <p:cNvSpPr txBox="1"/>
          <p:nvPr/>
        </p:nvSpPr>
        <p:spPr>
          <a:xfrm>
            <a:off x="498116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Equidad en el acceso y en la participación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2" name="Google Shape;212;p44"/>
          <p:cNvSpPr txBox="1"/>
          <p:nvPr/>
        </p:nvSpPr>
        <p:spPr>
          <a:xfrm>
            <a:off x="498125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Acceso ≠ Equidad</a:t>
            </a:r>
            <a:endParaRPr b="1" sz="2720">
              <a:solidFill>
                <a:srgbClr val="F3F3F3"/>
              </a:solidFill>
            </a:endParaRPr>
          </a:p>
        </p:txBody>
      </p:sp>
      <p:pic>
        <p:nvPicPr>
          <p:cNvPr descr="Gráfico de respuestas de formularios. Título de la pregunta: Complete la siguiente afirmación con la respuesta que más lo represente: &quot; En general, el nivel de reproducibilidad en mi área es...&quot;. Número de respuestas: 112 respuestas." id="213" name="Google Shape;213;p44" title="Complete la siguiente afirmación con la respuesta que más lo represente: &quot; En general, el nivel de reproducibilidad en mi área es...&quot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249" y="1636585"/>
            <a:ext cx="4369751" cy="1982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respuestas de formularios. Título de la pregunta: Con su equipo, ¿ha establecido algún protocolo para asegurar la reproducibilidad de su investigación?. Número de respuestas: 112 respuestas." id="214" name="Google Shape;214;p44" title="Con su equipo, ¿ha establecido algún protocolo para asegurar la reproducibilidad de su investigación?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5225" y="1659835"/>
            <a:ext cx="4267203" cy="1935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5"/>
          <p:cNvSpPr txBox="1"/>
          <p:nvPr/>
        </p:nvSpPr>
        <p:spPr>
          <a:xfrm>
            <a:off x="498116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Equidad en el acceso y en la participación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0" name="Google Shape;220;p45"/>
          <p:cNvSpPr txBox="1"/>
          <p:nvPr/>
        </p:nvSpPr>
        <p:spPr>
          <a:xfrm>
            <a:off x="498125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Acceso ≠ Equidad</a:t>
            </a:r>
            <a:endParaRPr b="1" sz="272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6"/>
          <p:cNvSpPr txBox="1"/>
          <p:nvPr>
            <p:ph type="title"/>
          </p:nvPr>
        </p:nvSpPr>
        <p:spPr>
          <a:xfrm>
            <a:off x="476965" y="1290252"/>
            <a:ext cx="80340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Persisten algunas barreras : 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85"/>
              <a:buChar char="●"/>
            </a:pPr>
            <a:r>
              <a:rPr lang="es" sz="1685">
                <a:solidFill>
                  <a:srgbClr val="212121"/>
                </a:solidFill>
              </a:rPr>
              <a:t>Idioma y lenguaje de la ciencia</a:t>
            </a:r>
            <a:endParaRPr sz="1685">
              <a:solidFill>
                <a:srgbClr val="212121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85"/>
              <a:buChar char="●"/>
            </a:pPr>
            <a:r>
              <a:rPr lang="es" sz="1685">
                <a:solidFill>
                  <a:srgbClr val="212121"/>
                </a:solidFill>
              </a:rPr>
              <a:t>Formatos académicos</a:t>
            </a:r>
            <a:endParaRPr sz="1685">
              <a:solidFill>
                <a:srgbClr val="212121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85"/>
              <a:buChar char="●"/>
            </a:pPr>
            <a:r>
              <a:rPr lang="es" sz="1685">
                <a:solidFill>
                  <a:srgbClr val="212121"/>
                </a:solidFill>
              </a:rPr>
              <a:t>Falta de contexto social y territorial (falta de significado)</a:t>
            </a:r>
            <a:endParaRPr i="1" sz="100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226" name="Google Shape;226;p46"/>
          <p:cNvSpPr txBox="1"/>
          <p:nvPr/>
        </p:nvSpPr>
        <p:spPr>
          <a:xfrm>
            <a:off x="498116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Equidad en el acceso y en la participación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7" name="Google Shape;227;p46"/>
          <p:cNvSpPr txBox="1"/>
          <p:nvPr/>
        </p:nvSpPr>
        <p:spPr>
          <a:xfrm>
            <a:off x="498125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Acceso ≠ Equidad</a:t>
            </a:r>
            <a:endParaRPr b="1" sz="272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7"/>
          <p:cNvSpPr txBox="1"/>
          <p:nvPr>
            <p:ph type="title"/>
          </p:nvPr>
        </p:nvSpPr>
        <p:spPr>
          <a:xfrm>
            <a:off x="476965" y="1290252"/>
            <a:ext cx="80340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Persisten algunas barreras : 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85"/>
              <a:buChar char="●"/>
            </a:pPr>
            <a:r>
              <a:rPr lang="es" sz="1685">
                <a:solidFill>
                  <a:srgbClr val="EFEFEF"/>
                </a:solidFill>
              </a:rPr>
              <a:t>Idioma y lenguaje de la ciencia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85"/>
              <a:buChar char="●"/>
            </a:pPr>
            <a:r>
              <a:rPr lang="es" sz="1685">
                <a:solidFill>
                  <a:srgbClr val="EFEFEF"/>
                </a:solidFill>
              </a:rPr>
              <a:t>Formatos académicos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85"/>
              <a:buChar char="●"/>
            </a:pPr>
            <a:r>
              <a:rPr lang="es" sz="1685">
                <a:solidFill>
                  <a:srgbClr val="EFEFEF"/>
                </a:solidFill>
              </a:rPr>
              <a:t>Falta de contexto social y territorial (falta de significado)</a:t>
            </a:r>
            <a:endParaRPr i="1" sz="1000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233" name="Google Shape;233;p47"/>
          <p:cNvSpPr txBox="1"/>
          <p:nvPr/>
        </p:nvSpPr>
        <p:spPr>
          <a:xfrm>
            <a:off x="498116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Equidad en el acceso y en la participación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4" name="Google Shape;234;p47"/>
          <p:cNvSpPr txBox="1"/>
          <p:nvPr/>
        </p:nvSpPr>
        <p:spPr>
          <a:xfrm>
            <a:off x="498125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Acceso ≠ Equidad</a:t>
            </a:r>
            <a:endParaRPr b="1" sz="272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8"/>
          <p:cNvSpPr txBox="1"/>
          <p:nvPr>
            <p:ph type="title"/>
          </p:nvPr>
        </p:nvSpPr>
        <p:spPr>
          <a:xfrm>
            <a:off x="485951" y="1290252"/>
            <a:ext cx="80340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Participar implica :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85"/>
              <a:buChar char="●"/>
            </a:pPr>
            <a:r>
              <a:rPr lang="es" sz="1685">
                <a:solidFill>
                  <a:srgbClr val="212121"/>
                </a:solidFill>
              </a:rPr>
              <a:t>Comprender</a:t>
            </a:r>
            <a:endParaRPr sz="1685">
              <a:solidFill>
                <a:srgbClr val="212121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85"/>
              <a:buChar char="●"/>
            </a:pPr>
            <a:r>
              <a:rPr lang="es" sz="1685">
                <a:solidFill>
                  <a:srgbClr val="212121"/>
                </a:solidFill>
              </a:rPr>
              <a:t>Dialogar (entregar contexto y dar sentido)</a:t>
            </a:r>
            <a:endParaRPr sz="1685">
              <a:solidFill>
                <a:srgbClr val="212121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85"/>
              <a:buChar char="●"/>
            </a:pPr>
            <a:r>
              <a:rPr lang="es" sz="1685">
                <a:solidFill>
                  <a:srgbClr val="212121"/>
                </a:solidFill>
              </a:rPr>
              <a:t>Apropiarse</a:t>
            </a:r>
            <a:endParaRPr i="1" sz="100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240" name="Google Shape;240;p48"/>
          <p:cNvSpPr txBox="1"/>
          <p:nvPr/>
        </p:nvSpPr>
        <p:spPr>
          <a:xfrm>
            <a:off x="498116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Equidad en el acceso y en la participación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1" name="Google Shape;241;p48"/>
          <p:cNvSpPr txBox="1"/>
          <p:nvPr/>
        </p:nvSpPr>
        <p:spPr>
          <a:xfrm>
            <a:off x="498125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Acceso ≠ Equidad</a:t>
            </a:r>
            <a:endParaRPr b="1" sz="2720">
              <a:solidFill>
                <a:srgbClr val="F3F3F3"/>
              </a:solidFill>
            </a:endParaRPr>
          </a:p>
        </p:txBody>
      </p:sp>
      <p:sp>
        <p:nvSpPr>
          <p:cNvPr id="242" name="Google Shape;242;p48"/>
          <p:cNvSpPr/>
          <p:nvPr/>
        </p:nvSpPr>
        <p:spPr>
          <a:xfrm>
            <a:off x="5513326" y="0"/>
            <a:ext cx="37383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3" name="Google Shape;243;p48"/>
          <p:cNvGrpSpPr/>
          <p:nvPr/>
        </p:nvGrpSpPr>
        <p:grpSpPr>
          <a:xfrm>
            <a:off x="5513325" y="0"/>
            <a:ext cx="3738300" cy="5143500"/>
            <a:chOff x="5513325" y="0"/>
            <a:chExt cx="3738300" cy="5143500"/>
          </a:xfrm>
        </p:grpSpPr>
        <p:sp>
          <p:nvSpPr>
            <p:cNvPr id="244" name="Google Shape;244;p48"/>
            <p:cNvSpPr/>
            <p:nvPr/>
          </p:nvSpPr>
          <p:spPr>
            <a:xfrm>
              <a:off x="5513326" y="0"/>
              <a:ext cx="3738300" cy="5143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5" name="Google Shape;245;p48" title="Captura de pantalla 2025-12-03 a las 09.47.10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25856" y="1025351"/>
              <a:ext cx="2997494" cy="3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46" name="Google Shape;246;p48"/>
            <p:cNvSpPr/>
            <p:nvPr/>
          </p:nvSpPr>
          <p:spPr>
            <a:xfrm>
              <a:off x="7716555" y="3992037"/>
              <a:ext cx="1418100" cy="333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8"/>
            <p:cNvSpPr/>
            <p:nvPr/>
          </p:nvSpPr>
          <p:spPr>
            <a:xfrm>
              <a:off x="5513325" y="702200"/>
              <a:ext cx="1653300" cy="1019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8"/>
            <p:cNvSpPr/>
            <p:nvPr/>
          </p:nvSpPr>
          <p:spPr>
            <a:xfrm>
              <a:off x="7120755" y="733135"/>
              <a:ext cx="407700" cy="42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8"/>
            <p:cNvSpPr/>
            <p:nvPr/>
          </p:nvSpPr>
          <p:spPr>
            <a:xfrm>
              <a:off x="6904755" y="876410"/>
              <a:ext cx="407700" cy="42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9"/>
          <p:cNvSpPr txBox="1"/>
          <p:nvPr>
            <p:ph type="title"/>
          </p:nvPr>
        </p:nvSpPr>
        <p:spPr>
          <a:xfrm>
            <a:off x="485951" y="1290252"/>
            <a:ext cx="80340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Participar implica :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85"/>
              <a:buChar char="●"/>
            </a:pPr>
            <a:r>
              <a:rPr lang="es" sz="1685">
                <a:solidFill>
                  <a:srgbClr val="EFEFEF"/>
                </a:solidFill>
              </a:rPr>
              <a:t>Comprender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85"/>
              <a:buChar char="●"/>
            </a:pPr>
            <a:r>
              <a:rPr lang="es" sz="1685">
                <a:solidFill>
                  <a:srgbClr val="EFEFEF"/>
                </a:solidFill>
              </a:rPr>
              <a:t>Dialogar (entregar contexto y dar sentido)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85"/>
              <a:buChar char="●"/>
            </a:pPr>
            <a:r>
              <a:rPr lang="es" sz="1685">
                <a:solidFill>
                  <a:srgbClr val="EFEFEF"/>
                </a:solidFill>
              </a:rPr>
              <a:t>Apropiarse</a:t>
            </a:r>
            <a:endParaRPr i="1" sz="1000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255" name="Google Shape;255;p49"/>
          <p:cNvSpPr txBox="1"/>
          <p:nvPr/>
        </p:nvSpPr>
        <p:spPr>
          <a:xfrm>
            <a:off x="498116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Equidad en el acceso y en la participación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6" name="Google Shape;256;p49"/>
          <p:cNvSpPr txBox="1"/>
          <p:nvPr/>
        </p:nvSpPr>
        <p:spPr>
          <a:xfrm>
            <a:off x="498125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Acceso ≠ Equidad</a:t>
            </a:r>
            <a:endParaRPr b="1" sz="2720">
              <a:solidFill>
                <a:srgbClr val="F3F3F3"/>
              </a:solidFill>
            </a:endParaRPr>
          </a:p>
        </p:txBody>
      </p:sp>
      <p:sp>
        <p:nvSpPr>
          <p:cNvPr id="257" name="Google Shape;257;p49"/>
          <p:cNvSpPr/>
          <p:nvPr/>
        </p:nvSpPr>
        <p:spPr>
          <a:xfrm>
            <a:off x="7045750" y="946597"/>
            <a:ext cx="309300" cy="28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49"/>
          <p:cNvGrpSpPr/>
          <p:nvPr/>
        </p:nvGrpSpPr>
        <p:grpSpPr>
          <a:xfrm>
            <a:off x="5513325" y="0"/>
            <a:ext cx="3738300" cy="5143500"/>
            <a:chOff x="5513325" y="0"/>
            <a:chExt cx="3738300" cy="5143500"/>
          </a:xfrm>
        </p:grpSpPr>
        <p:sp>
          <p:nvSpPr>
            <p:cNvPr id="259" name="Google Shape;259;p49"/>
            <p:cNvSpPr/>
            <p:nvPr/>
          </p:nvSpPr>
          <p:spPr>
            <a:xfrm>
              <a:off x="5513326" y="0"/>
              <a:ext cx="3738300" cy="5143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0" name="Google Shape;260;p49" title="Captura de pantalla 2025-12-03 a las 09.47.10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25856" y="1025351"/>
              <a:ext cx="2997494" cy="3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61" name="Google Shape;261;p49"/>
            <p:cNvSpPr/>
            <p:nvPr/>
          </p:nvSpPr>
          <p:spPr>
            <a:xfrm>
              <a:off x="7716555" y="3992037"/>
              <a:ext cx="1418100" cy="333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9"/>
            <p:cNvSpPr/>
            <p:nvPr/>
          </p:nvSpPr>
          <p:spPr>
            <a:xfrm>
              <a:off x="5513325" y="702200"/>
              <a:ext cx="1653300" cy="1019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9"/>
            <p:cNvSpPr/>
            <p:nvPr/>
          </p:nvSpPr>
          <p:spPr>
            <a:xfrm>
              <a:off x="7120755" y="733135"/>
              <a:ext cx="407700" cy="42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9"/>
            <p:cNvSpPr/>
            <p:nvPr/>
          </p:nvSpPr>
          <p:spPr>
            <a:xfrm>
              <a:off x="6904755" y="876410"/>
              <a:ext cx="407700" cy="42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0"/>
          <p:cNvSpPr txBox="1"/>
          <p:nvPr>
            <p:ph type="title"/>
          </p:nvPr>
        </p:nvSpPr>
        <p:spPr>
          <a:xfrm>
            <a:off x="476965" y="1290252"/>
            <a:ext cx="80340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El significado de los datos</a:t>
            </a:r>
            <a:r>
              <a:rPr b="1" lang="es" sz="2000">
                <a:solidFill>
                  <a:srgbClr val="FEBE42"/>
                </a:solidFill>
              </a:rPr>
              <a:t> :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85"/>
              <a:buChar char="●"/>
            </a:pPr>
            <a:r>
              <a:rPr lang="es" sz="1685">
                <a:solidFill>
                  <a:srgbClr val="212121"/>
                </a:solidFill>
              </a:rPr>
              <a:t>Im</a:t>
            </a:r>
            <a:r>
              <a:rPr lang="es" sz="1685">
                <a:solidFill>
                  <a:srgbClr val="212121"/>
                </a:solidFill>
              </a:rPr>
              <a:t>ágenes</a:t>
            </a:r>
            <a:endParaRPr sz="1685">
              <a:solidFill>
                <a:srgbClr val="212121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85"/>
              <a:buChar char="●"/>
            </a:pPr>
            <a:r>
              <a:rPr lang="es" sz="1685">
                <a:solidFill>
                  <a:srgbClr val="212121"/>
                </a:solidFill>
              </a:rPr>
              <a:t>Relatos</a:t>
            </a:r>
            <a:endParaRPr sz="1685">
              <a:solidFill>
                <a:srgbClr val="212121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85"/>
              <a:buChar char="●"/>
            </a:pPr>
            <a:r>
              <a:rPr lang="es" sz="1685">
                <a:solidFill>
                  <a:srgbClr val="212121"/>
                </a:solidFill>
              </a:rPr>
              <a:t>Testimonios</a:t>
            </a:r>
            <a:endParaRPr sz="1685">
              <a:solidFill>
                <a:srgbClr val="212121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85"/>
              <a:buChar char="●"/>
            </a:pPr>
            <a:r>
              <a:rPr lang="es" sz="1685">
                <a:solidFill>
                  <a:srgbClr val="212121"/>
                </a:solidFill>
              </a:rPr>
              <a:t>Experiencias humanas</a:t>
            </a:r>
            <a:endParaRPr sz="1685">
              <a:solidFill>
                <a:srgbClr val="212121"/>
              </a:solidFill>
            </a:endParaRPr>
          </a:p>
          <a:p>
            <a:pPr indent="0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85">
                <a:solidFill>
                  <a:srgbClr val="212121"/>
                </a:solidFill>
              </a:rPr>
              <a:t>					Y pueden ser sensibles.</a:t>
            </a:r>
            <a:endParaRPr sz="1685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270" name="Google Shape;270;p50"/>
          <p:cNvSpPr txBox="1"/>
          <p:nvPr/>
        </p:nvSpPr>
        <p:spPr>
          <a:xfrm>
            <a:off x="498116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Equidad en el acceso y en la participación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1" name="Google Shape;271;p50"/>
          <p:cNvSpPr txBox="1"/>
          <p:nvPr/>
        </p:nvSpPr>
        <p:spPr>
          <a:xfrm>
            <a:off x="498125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Acceso ≠ Equidad</a:t>
            </a:r>
            <a:endParaRPr b="1" sz="2720">
              <a:solidFill>
                <a:srgbClr val="F3F3F3"/>
              </a:solidFill>
            </a:endParaRPr>
          </a:p>
        </p:txBody>
      </p:sp>
      <p:sp>
        <p:nvSpPr>
          <p:cNvPr id="272" name="Google Shape;272;p50"/>
          <p:cNvSpPr/>
          <p:nvPr/>
        </p:nvSpPr>
        <p:spPr>
          <a:xfrm>
            <a:off x="5672982" y="0"/>
            <a:ext cx="3462000" cy="5143500"/>
          </a:xfrm>
          <a:prstGeom prst="rect">
            <a:avLst/>
          </a:prstGeom>
          <a:solidFill>
            <a:srgbClr val="3DC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50" title="Captura de pantalla 2025-12-04 a las 20.47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2247" y="1205003"/>
            <a:ext cx="3319951" cy="281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50"/>
          <p:cNvSpPr/>
          <p:nvPr/>
        </p:nvSpPr>
        <p:spPr>
          <a:xfrm>
            <a:off x="5682250" y="1672453"/>
            <a:ext cx="972000" cy="894900"/>
          </a:xfrm>
          <a:prstGeom prst="rect">
            <a:avLst/>
          </a:prstGeom>
          <a:solidFill>
            <a:srgbClr val="45C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1"/>
          <p:cNvSpPr txBox="1"/>
          <p:nvPr>
            <p:ph type="title"/>
          </p:nvPr>
        </p:nvSpPr>
        <p:spPr>
          <a:xfrm>
            <a:off x="476965" y="1290252"/>
            <a:ext cx="80340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El significado de los datos :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85"/>
              <a:buChar char="●"/>
            </a:pPr>
            <a:r>
              <a:rPr lang="es" sz="1685">
                <a:solidFill>
                  <a:srgbClr val="EFEFEF"/>
                </a:solidFill>
              </a:rPr>
              <a:t>Imágenes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85"/>
              <a:buChar char="●"/>
            </a:pPr>
            <a:r>
              <a:rPr lang="es" sz="1685">
                <a:solidFill>
                  <a:srgbClr val="EFEFEF"/>
                </a:solidFill>
              </a:rPr>
              <a:t>Relatos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85"/>
              <a:buChar char="●"/>
            </a:pPr>
            <a:r>
              <a:rPr lang="es" sz="1685">
                <a:solidFill>
                  <a:srgbClr val="EFEFEF"/>
                </a:solidFill>
              </a:rPr>
              <a:t>Testimonios</a:t>
            </a:r>
            <a:endParaRPr sz="1685">
              <a:solidFill>
                <a:srgbClr val="EFEFEF"/>
              </a:solidFill>
            </a:endParaRPr>
          </a:p>
          <a:p>
            <a:pPr indent="-335597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85"/>
              <a:buChar char="●"/>
            </a:pPr>
            <a:r>
              <a:rPr lang="es" sz="1685">
                <a:solidFill>
                  <a:srgbClr val="EFEFEF"/>
                </a:solidFill>
              </a:rPr>
              <a:t>Experiencias humanas</a:t>
            </a:r>
            <a:endParaRPr sz="1685">
              <a:solidFill>
                <a:srgbClr val="EFEFEF"/>
              </a:solidFill>
            </a:endParaRPr>
          </a:p>
          <a:p>
            <a:pPr indent="0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85">
                <a:solidFill>
                  <a:srgbClr val="EFEFEF"/>
                </a:solidFill>
              </a:rPr>
              <a:t>			            Y pueden ser sensibles.</a:t>
            </a:r>
            <a:endParaRPr sz="1685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280" name="Google Shape;280;p51"/>
          <p:cNvSpPr txBox="1"/>
          <p:nvPr/>
        </p:nvSpPr>
        <p:spPr>
          <a:xfrm>
            <a:off x="498116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Equidad en el acceso y en la participación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1" name="Google Shape;281;p51"/>
          <p:cNvSpPr txBox="1"/>
          <p:nvPr/>
        </p:nvSpPr>
        <p:spPr>
          <a:xfrm>
            <a:off x="498125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Acceso ≠ Equidad</a:t>
            </a:r>
            <a:endParaRPr b="1" sz="2720">
              <a:solidFill>
                <a:srgbClr val="F3F3F3"/>
              </a:solidFill>
            </a:endParaRPr>
          </a:p>
        </p:txBody>
      </p:sp>
      <p:sp>
        <p:nvSpPr>
          <p:cNvPr id="282" name="Google Shape;282;p51"/>
          <p:cNvSpPr/>
          <p:nvPr/>
        </p:nvSpPr>
        <p:spPr>
          <a:xfrm>
            <a:off x="5672982" y="0"/>
            <a:ext cx="3462000" cy="5143500"/>
          </a:xfrm>
          <a:prstGeom prst="rect">
            <a:avLst/>
          </a:prstGeom>
          <a:solidFill>
            <a:srgbClr val="3DC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51" title="Captura de pantalla 2025-12-04 a las 20.47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2247" y="1205003"/>
            <a:ext cx="3319951" cy="281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1"/>
          <p:cNvSpPr/>
          <p:nvPr/>
        </p:nvSpPr>
        <p:spPr>
          <a:xfrm>
            <a:off x="5682250" y="1672453"/>
            <a:ext cx="972000" cy="894900"/>
          </a:xfrm>
          <a:prstGeom prst="rect">
            <a:avLst/>
          </a:prstGeom>
          <a:solidFill>
            <a:srgbClr val="45C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2"/>
          <p:cNvSpPr txBox="1"/>
          <p:nvPr>
            <p:ph type="title"/>
          </p:nvPr>
        </p:nvSpPr>
        <p:spPr>
          <a:xfrm>
            <a:off x="460025" y="1290250"/>
            <a:ext cx="55479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La ciencia ya no controla</a:t>
            </a:r>
            <a:r>
              <a:rPr b="1" lang="es" sz="2000">
                <a:solidFill>
                  <a:srgbClr val="FEBE42"/>
                </a:solidFill>
              </a:rPr>
              <a:t> :</a:t>
            </a:r>
            <a:endParaRPr b="1" sz="2000">
              <a:solidFill>
                <a:srgbClr val="FEBE42"/>
              </a:solidFill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Abrir también implica liberar ese “control” académico (el contexto en el que se lee, quién interpreta, para qué se usa).</a:t>
            </a:r>
            <a:endParaRPr sz="1650">
              <a:solidFill>
                <a:srgbClr val="212121"/>
              </a:solidFill>
            </a:endParaRPr>
          </a:p>
          <a:p>
            <a:pPr indent="-333375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Los datos nunca “hablan solos. Se seleccionan, combinan, reinterpretan.</a:t>
            </a:r>
            <a:endParaRPr sz="1650">
              <a:solidFill>
                <a:srgbClr val="212121"/>
              </a:solidFill>
            </a:endParaRPr>
          </a:p>
          <a:p>
            <a:pPr indent="-333375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Impacto público y político de los datos.</a:t>
            </a:r>
            <a:endParaRPr sz="165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290" name="Google Shape;290;p52"/>
          <p:cNvSpPr txBox="1"/>
          <p:nvPr/>
        </p:nvSpPr>
        <p:spPr>
          <a:xfrm>
            <a:off x="428960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Responsabilidad ética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1" name="Google Shape;291;p52"/>
          <p:cNvSpPr txBox="1"/>
          <p:nvPr/>
        </p:nvSpPr>
        <p:spPr>
          <a:xfrm>
            <a:off x="428969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Consecuencias públicas</a:t>
            </a:r>
            <a:endParaRPr b="1" sz="2720">
              <a:solidFill>
                <a:srgbClr val="F3F3F3"/>
              </a:solidFill>
            </a:endParaRPr>
          </a:p>
        </p:txBody>
      </p:sp>
      <p:grpSp>
        <p:nvGrpSpPr>
          <p:cNvPr id="292" name="Google Shape;292;p52"/>
          <p:cNvGrpSpPr/>
          <p:nvPr/>
        </p:nvGrpSpPr>
        <p:grpSpPr>
          <a:xfrm>
            <a:off x="6008025" y="0"/>
            <a:ext cx="3230365" cy="5143500"/>
            <a:chOff x="5904291" y="0"/>
            <a:chExt cx="3230365" cy="5143500"/>
          </a:xfrm>
        </p:grpSpPr>
        <p:sp>
          <p:nvSpPr>
            <p:cNvPr id="293" name="Google Shape;293;p52"/>
            <p:cNvSpPr/>
            <p:nvPr/>
          </p:nvSpPr>
          <p:spPr>
            <a:xfrm>
              <a:off x="5904291" y="0"/>
              <a:ext cx="3135900" cy="5143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4" name="Google Shape;294;p52" title="Captura de pantalla 2025-12-03 a las 09.47.10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29590" y="1025351"/>
              <a:ext cx="2997494" cy="3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95" name="Google Shape;295;p52"/>
            <p:cNvSpPr/>
            <p:nvPr/>
          </p:nvSpPr>
          <p:spPr>
            <a:xfrm>
              <a:off x="7716555" y="3992037"/>
              <a:ext cx="1418100" cy="333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52"/>
            <p:cNvSpPr/>
            <p:nvPr/>
          </p:nvSpPr>
          <p:spPr>
            <a:xfrm>
              <a:off x="5904291" y="702200"/>
              <a:ext cx="1340100" cy="1019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52"/>
            <p:cNvSpPr/>
            <p:nvPr/>
          </p:nvSpPr>
          <p:spPr>
            <a:xfrm>
              <a:off x="7172622" y="733135"/>
              <a:ext cx="407700" cy="42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52"/>
            <p:cNvSpPr/>
            <p:nvPr/>
          </p:nvSpPr>
          <p:spPr>
            <a:xfrm>
              <a:off x="6973912" y="876410"/>
              <a:ext cx="407700" cy="42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3"/>
          <p:cNvSpPr txBox="1"/>
          <p:nvPr>
            <p:ph type="title"/>
          </p:nvPr>
        </p:nvSpPr>
        <p:spPr>
          <a:xfrm>
            <a:off x="460025" y="1290250"/>
            <a:ext cx="55479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La ciencia ya no controla :</a:t>
            </a:r>
            <a:endParaRPr b="1" sz="2000">
              <a:solidFill>
                <a:srgbClr val="FEBE42"/>
              </a:solidFill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Abrir también implica liberar ese “control” académico (el contexto en el que se lee, quién interpreta, para qué se usa).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Los datos nunca “hablan solos. Se seleccionan, combinan, reinterpretan.</a:t>
            </a:r>
            <a:endParaRPr sz="1650">
              <a:solidFill>
                <a:srgbClr val="212121"/>
              </a:solidFill>
            </a:endParaRPr>
          </a:p>
          <a:p>
            <a:pPr indent="-333375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Impacto público y político de los datos.</a:t>
            </a:r>
            <a:endParaRPr sz="165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304" name="Google Shape;304;p53"/>
          <p:cNvSpPr txBox="1"/>
          <p:nvPr/>
        </p:nvSpPr>
        <p:spPr>
          <a:xfrm>
            <a:off x="428960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Responsabilidad ética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5" name="Google Shape;305;p53"/>
          <p:cNvSpPr txBox="1"/>
          <p:nvPr/>
        </p:nvSpPr>
        <p:spPr>
          <a:xfrm>
            <a:off x="428969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Consecuencias públicas</a:t>
            </a:r>
            <a:endParaRPr b="1" sz="2720">
              <a:solidFill>
                <a:srgbClr val="F3F3F3"/>
              </a:solidFill>
            </a:endParaRPr>
          </a:p>
        </p:txBody>
      </p:sp>
      <p:grpSp>
        <p:nvGrpSpPr>
          <p:cNvPr id="306" name="Google Shape;306;p53"/>
          <p:cNvGrpSpPr/>
          <p:nvPr/>
        </p:nvGrpSpPr>
        <p:grpSpPr>
          <a:xfrm>
            <a:off x="6008025" y="0"/>
            <a:ext cx="3230365" cy="5143500"/>
            <a:chOff x="5904291" y="0"/>
            <a:chExt cx="3230365" cy="5143500"/>
          </a:xfrm>
        </p:grpSpPr>
        <p:sp>
          <p:nvSpPr>
            <p:cNvPr id="307" name="Google Shape;307;p53"/>
            <p:cNvSpPr/>
            <p:nvPr/>
          </p:nvSpPr>
          <p:spPr>
            <a:xfrm>
              <a:off x="5904291" y="0"/>
              <a:ext cx="3135900" cy="5143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8" name="Google Shape;308;p53" title="Captura de pantalla 2025-12-03 a las 09.47.10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29590" y="1025351"/>
              <a:ext cx="2997494" cy="3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09" name="Google Shape;309;p53"/>
            <p:cNvSpPr/>
            <p:nvPr/>
          </p:nvSpPr>
          <p:spPr>
            <a:xfrm>
              <a:off x="7716555" y="3992037"/>
              <a:ext cx="1418100" cy="333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53"/>
            <p:cNvSpPr/>
            <p:nvPr/>
          </p:nvSpPr>
          <p:spPr>
            <a:xfrm>
              <a:off x="5904291" y="702200"/>
              <a:ext cx="1340100" cy="1019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3"/>
            <p:cNvSpPr/>
            <p:nvPr/>
          </p:nvSpPr>
          <p:spPr>
            <a:xfrm>
              <a:off x="7172622" y="733135"/>
              <a:ext cx="407700" cy="42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3"/>
            <p:cNvSpPr/>
            <p:nvPr/>
          </p:nvSpPr>
          <p:spPr>
            <a:xfrm>
              <a:off x="6973912" y="876410"/>
              <a:ext cx="407700" cy="42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type="title"/>
          </p:nvPr>
        </p:nvSpPr>
        <p:spPr>
          <a:xfrm>
            <a:off x="460025" y="1290250"/>
            <a:ext cx="55479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La ciencia ya no controla :</a:t>
            </a:r>
            <a:endParaRPr b="1" sz="2000">
              <a:solidFill>
                <a:srgbClr val="FEBE42"/>
              </a:solidFill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Abrir también implica liberar ese “control” académico (el contexto en el que se lee, quién interpreta, para qué se usa).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Los datos nunca “hablan” solos. Se seleccionan, combinan, reinterpretan.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Impacto público y político de los datos.</a:t>
            </a:r>
            <a:endParaRPr sz="165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318" name="Google Shape;318;p54"/>
          <p:cNvSpPr txBox="1"/>
          <p:nvPr/>
        </p:nvSpPr>
        <p:spPr>
          <a:xfrm>
            <a:off x="428960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Responsabilidad ética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9" name="Google Shape;319;p54"/>
          <p:cNvSpPr txBox="1"/>
          <p:nvPr/>
        </p:nvSpPr>
        <p:spPr>
          <a:xfrm>
            <a:off x="428969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Consecuencias públicas</a:t>
            </a:r>
            <a:endParaRPr b="1" sz="2720">
              <a:solidFill>
                <a:srgbClr val="F3F3F3"/>
              </a:solidFill>
            </a:endParaRPr>
          </a:p>
        </p:txBody>
      </p:sp>
      <p:grpSp>
        <p:nvGrpSpPr>
          <p:cNvPr id="320" name="Google Shape;320;p54"/>
          <p:cNvGrpSpPr/>
          <p:nvPr/>
        </p:nvGrpSpPr>
        <p:grpSpPr>
          <a:xfrm>
            <a:off x="6008025" y="0"/>
            <a:ext cx="3230365" cy="5143500"/>
            <a:chOff x="5904291" y="0"/>
            <a:chExt cx="3230365" cy="5143500"/>
          </a:xfrm>
        </p:grpSpPr>
        <p:sp>
          <p:nvSpPr>
            <p:cNvPr id="321" name="Google Shape;321;p54"/>
            <p:cNvSpPr/>
            <p:nvPr/>
          </p:nvSpPr>
          <p:spPr>
            <a:xfrm>
              <a:off x="5904291" y="0"/>
              <a:ext cx="3135900" cy="5143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2" name="Google Shape;322;p54" title="Captura de pantalla 2025-12-03 a las 09.47.10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29590" y="1025351"/>
              <a:ext cx="2997494" cy="3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23" name="Google Shape;323;p54"/>
            <p:cNvSpPr/>
            <p:nvPr/>
          </p:nvSpPr>
          <p:spPr>
            <a:xfrm>
              <a:off x="7716555" y="3992037"/>
              <a:ext cx="1418100" cy="333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4"/>
            <p:cNvSpPr/>
            <p:nvPr/>
          </p:nvSpPr>
          <p:spPr>
            <a:xfrm>
              <a:off x="5904291" y="702200"/>
              <a:ext cx="1340100" cy="1019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4"/>
            <p:cNvSpPr/>
            <p:nvPr/>
          </p:nvSpPr>
          <p:spPr>
            <a:xfrm>
              <a:off x="7172622" y="733135"/>
              <a:ext cx="407700" cy="42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4"/>
            <p:cNvSpPr/>
            <p:nvPr/>
          </p:nvSpPr>
          <p:spPr>
            <a:xfrm>
              <a:off x="6973912" y="876410"/>
              <a:ext cx="407700" cy="42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>
            <p:ph type="title"/>
          </p:nvPr>
        </p:nvSpPr>
        <p:spPr>
          <a:xfrm>
            <a:off x="460025" y="1290250"/>
            <a:ext cx="55479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La ciencia ya no controla :</a:t>
            </a:r>
            <a:endParaRPr b="1" sz="2000">
              <a:solidFill>
                <a:srgbClr val="FEBE42"/>
              </a:solidFill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Abrir también implica liberar ese “control” académico (el contexto en el que se lee, quién interpreta, para qué se usa).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Los datos nunca “hablan” solos. Se seleccionan, combinan, reinterpretan.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9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Impacto público y político de los datos.</a:t>
            </a:r>
            <a:endParaRPr sz="1650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332" name="Google Shape;332;p55"/>
          <p:cNvSpPr txBox="1"/>
          <p:nvPr/>
        </p:nvSpPr>
        <p:spPr>
          <a:xfrm>
            <a:off x="428960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Responsabilidad ética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33" name="Google Shape;333;p55"/>
          <p:cNvSpPr txBox="1"/>
          <p:nvPr/>
        </p:nvSpPr>
        <p:spPr>
          <a:xfrm>
            <a:off x="428969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Consecuencias públicas</a:t>
            </a:r>
            <a:endParaRPr b="1" sz="2720">
              <a:solidFill>
                <a:srgbClr val="F3F3F3"/>
              </a:solidFill>
            </a:endParaRPr>
          </a:p>
        </p:txBody>
      </p:sp>
      <p:grpSp>
        <p:nvGrpSpPr>
          <p:cNvPr id="334" name="Google Shape;334;p55"/>
          <p:cNvGrpSpPr/>
          <p:nvPr/>
        </p:nvGrpSpPr>
        <p:grpSpPr>
          <a:xfrm>
            <a:off x="6008025" y="0"/>
            <a:ext cx="3230365" cy="5143500"/>
            <a:chOff x="5904291" y="0"/>
            <a:chExt cx="3230365" cy="5143500"/>
          </a:xfrm>
        </p:grpSpPr>
        <p:sp>
          <p:nvSpPr>
            <p:cNvPr id="335" name="Google Shape;335;p55"/>
            <p:cNvSpPr/>
            <p:nvPr/>
          </p:nvSpPr>
          <p:spPr>
            <a:xfrm>
              <a:off x="5904291" y="0"/>
              <a:ext cx="3135900" cy="5143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6" name="Google Shape;336;p55" title="Captura de pantalla 2025-12-03 a las 09.47.10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29590" y="1025351"/>
              <a:ext cx="2997494" cy="3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37" name="Google Shape;337;p55"/>
            <p:cNvSpPr/>
            <p:nvPr/>
          </p:nvSpPr>
          <p:spPr>
            <a:xfrm>
              <a:off x="7716555" y="3992037"/>
              <a:ext cx="1418100" cy="333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5"/>
            <p:cNvSpPr/>
            <p:nvPr/>
          </p:nvSpPr>
          <p:spPr>
            <a:xfrm>
              <a:off x="5904291" y="702200"/>
              <a:ext cx="1340100" cy="1019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5"/>
            <p:cNvSpPr/>
            <p:nvPr/>
          </p:nvSpPr>
          <p:spPr>
            <a:xfrm>
              <a:off x="7172622" y="733135"/>
              <a:ext cx="407700" cy="42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5"/>
            <p:cNvSpPr/>
            <p:nvPr/>
          </p:nvSpPr>
          <p:spPr>
            <a:xfrm>
              <a:off x="6973912" y="876410"/>
              <a:ext cx="407700" cy="426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6"/>
          <p:cNvSpPr txBox="1"/>
          <p:nvPr>
            <p:ph type="title"/>
          </p:nvPr>
        </p:nvSpPr>
        <p:spPr>
          <a:xfrm>
            <a:off x="460025" y="1290250"/>
            <a:ext cx="7657200" cy="34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Debemos considerar</a:t>
            </a:r>
            <a:r>
              <a:rPr b="1" lang="es" sz="2000">
                <a:solidFill>
                  <a:srgbClr val="FEBE42"/>
                </a:solidFill>
              </a:rPr>
              <a:t> :</a:t>
            </a:r>
            <a:endParaRPr b="1" sz="2000">
              <a:solidFill>
                <a:srgbClr val="FEBE42"/>
              </a:solidFill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Pensar los efecto</a:t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346" name="Google Shape;346;p56"/>
          <p:cNvSpPr txBox="1"/>
          <p:nvPr/>
        </p:nvSpPr>
        <p:spPr>
          <a:xfrm>
            <a:off x="428960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Responsabilidad ética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7" name="Google Shape;347;p56"/>
          <p:cNvSpPr txBox="1"/>
          <p:nvPr/>
        </p:nvSpPr>
        <p:spPr>
          <a:xfrm>
            <a:off x="428969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Consecuencias públicas</a:t>
            </a:r>
            <a:endParaRPr b="1" sz="272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7"/>
          <p:cNvSpPr txBox="1"/>
          <p:nvPr>
            <p:ph type="title"/>
          </p:nvPr>
        </p:nvSpPr>
        <p:spPr>
          <a:xfrm>
            <a:off x="460025" y="1290250"/>
            <a:ext cx="7657200" cy="34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Debemos considerar :</a:t>
            </a:r>
            <a:endParaRPr b="1" sz="2000">
              <a:solidFill>
                <a:srgbClr val="FEBE42"/>
              </a:solidFill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Pensar los efectos públicos antes de abrir datos o resultados.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Identificar posibles usos, </a:t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353" name="Google Shape;353;p57"/>
          <p:cNvSpPr txBox="1"/>
          <p:nvPr/>
        </p:nvSpPr>
        <p:spPr>
          <a:xfrm>
            <a:off x="428960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Responsabilidad ética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4" name="Google Shape;354;p57"/>
          <p:cNvSpPr txBox="1"/>
          <p:nvPr/>
        </p:nvSpPr>
        <p:spPr>
          <a:xfrm>
            <a:off x="428969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Consecuencias públicas</a:t>
            </a:r>
            <a:endParaRPr b="1" sz="272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8"/>
          <p:cNvSpPr txBox="1"/>
          <p:nvPr>
            <p:ph type="title"/>
          </p:nvPr>
        </p:nvSpPr>
        <p:spPr>
          <a:xfrm>
            <a:off x="460025" y="1290250"/>
            <a:ext cx="7657200" cy="34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Debemos considerar :</a:t>
            </a:r>
            <a:endParaRPr b="1" sz="2000">
              <a:solidFill>
                <a:srgbClr val="FEBE42"/>
              </a:solidFill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Pensar los efectos públicos antes de abrir datos o resultados.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Identificar posibles usos, mal usos o interpretaciones fuera de la academia.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Definir públicos, riesgos comunicacionales y niveles de apertura.</a:t>
            </a:r>
            <a:endParaRPr sz="1650">
              <a:solidFill>
                <a:srgbClr val="212121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Protocolos de consentimiento comprensible, no solo legal.</a:t>
            </a:r>
            <a:endParaRPr sz="1650">
              <a:solidFill>
                <a:srgbClr val="212121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Orientaciones para comunicar incertidumbre, límites y errores.</a:t>
            </a:r>
            <a:endParaRPr sz="165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360" name="Google Shape;360;p58"/>
          <p:cNvSpPr txBox="1"/>
          <p:nvPr/>
        </p:nvSpPr>
        <p:spPr>
          <a:xfrm>
            <a:off x="428960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Responsabilidad ética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1" name="Google Shape;361;p58"/>
          <p:cNvSpPr txBox="1"/>
          <p:nvPr/>
        </p:nvSpPr>
        <p:spPr>
          <a:xfrm>
            <a:off x="428969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Consecuencias públicas</a:t>
            </a:r>
            <a:endParaRPr b="1" sz="272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9"/>
          <p:cNvSpPr txBox="1"/>
          <p:nvPr>
            <p:ph type="title"/>
          </p:nvPr>
        </p:nvSpPr>
        <p:spPr>
          <a:xfrm>
            <a:off x="460025" y="1290250"/>
            <a:ext cx="7657200" cy="34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Debemos considerar :</a:t>
            </a:r>
            <a:endParaRPr b="1" sz="2000">
              <a:solidFill>
                <a:srgbClr val="FEBE42"/>
              </a:solidFill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Pensar los efectos públicos antes de abrir datos o resultados.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Identificar posibles usos, mal usos o interpretaciones fuera de la academia.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Definir públicos, riesgos comunicacionales y niveles de apertura.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Protocolos de consentimiento comprensible, no solo legal.</a:t>
            </a:r>
            <a:endParaRPr sz="1650">
              <a:solidFill>
                <a:srgbClr val="212121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Orientaciones para comunicar incertidumbre, límites y errores.</a:t>
            </a:r>
            <a:endParaRPr sz="165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367" name="Google Shape;367;p59"/>
          <p:cNvSpPr txBox="1"/>
          <p:nvPr/>
        </p:nvSpPr>
        <p:spPr>
          <a:xfrm>
            <a:off x="428960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Responsabilidad ética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8" name="Google Shape;368;p59"/>
          <p:cNvSpPr txBox="1"/>
          <p:nvPr/>
        </p:nvSpPr>
        <p:spPr>
          <a:xfrm>
            <a:off x="428969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Consecuencias públicas</a:t>
            </a:r>
            <a:endParaRPr b="1" sz="272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0"/>
          <p:cNvSpPr txBox="1"/>
          <p:nvPr>
            <p:ph type="title"/>
          </p:nvPr>
        </p:nvSpPr>
        <p:spPr>
          <a:xfrm>
            <a:off x="460025" y="1290250"/>
            <a:ext cx="7657200" cy="34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Debemos considerar :</a:t>
            </a:r>
            <a:endParaRPr b="1" sz="2000">
              <a:solidFill>
                <a:srgbClr val="FEBE42"/>
              </a:solidFill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Pensar los efectos públicos antes de abrir datos o resultados.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Identificar posibles usos, mal usos o interpretaciones fuera de la academia.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Definir públicos, riesgos comunicacionales y niveles de apertura.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Protocolos de consentimiento comprensible, no solo legal.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650"/>
              <a:buChar char="●"/>
            </a:pPr>
            <a:r>
              <a:rPr lang="es" sz="1650">
                <a:solidFill>
                  <a:srgbClr val="212121"/>
                </a:solidFill>
              </a:rPr>
              <a:t>Orientaciones para comunicar incertidumbre, límites y errores.</a:t>
            </a:r>
            <a:endParaRPr sz="165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374" name="Google Shape;374;p60"/>
          <p:cNvSpPr txBox="1"/>
          <p:nvPr/>
        </p:nvSpPr>
        <p:spPr>
          <a:xfrm>
            <a:off x="428960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Responsabilidad ética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5" name="Google Shape;375;p60"/>
          <p:cNvSpPr txBox="1"/>
          <p:nvPr/>
        </p:nvSpPr>
        <p:spPr>
          <a:xfrm>
            <a:off x="428969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Consecuencias públicas</a:t>
            </a:r>
            <a:endParaRPr b="1" sz="272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 txBox="1"/>
          <p:nvPr>
            <p:ph type="title"/>
          </p:nvPr>
        </p:nvSpPr>
        <p:spPr>
          <a:xfrm>
            <a:off x="460025" y="1290250"/>
            <a:ext cx="7657200" cy="34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000">
                <a:solidFill>
                  <a:srgbClr val="FEBE42"/>
                </a:solidFill>
              </a:rPr>
              <a:t>Debemos considerar :</a:t>
            </a:r>
            <a:endParaRPr b="1" sz="2000">
              <a:solidFill>
                <a:srgbClr val="FEBE42"/>
              </a:solidFill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Pensar los efectos públicos antes de abrir datos o resultados.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Identificar posibles usos, mal usos o interpretaciones fuera de la academia.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Definir públicos, riesgos comunicacionales y niveles de apertura.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Protocolos de consentimiento comprensible, no solo legal.</a:t>
            </a:r>
            <a:endParaRPr sz="1650">
              <a:solidFill>
                <a:srgbClr val="EFEFEF"/>
              </a:solidFill>
            </a:endParaRPr>
          </a:p>
          <a:p>
            <a:pPr indent="-33337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50"/>
              <a:buChar char="●"/>
            </a:pPr>
            <a:r>
              <a:rPr lang="es" sz="1650">
                <a:solidFill>
                  <a:srgbClr val="EFEFEF"/>
                </a:solidFill>
              </a:rPr>
              <a:t>Orientaciones para comunicar incertidumbre, límites y errores.</a:t>
            </a:r>
            <a:endParaRPr sz="1650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1000">
              <a:solidFill>
                <a:srgbClr val="EFEFEF"/>
              </a:solidFill>
            </a:endParaRPr>
          </a:p>
        </p:txBody>
      </p:sp>
      <p:sp>
        <p:nvSpPr>
          <p:cNvPr id="381" name="Google Shape;381;p61"/>
          <p:cNvSpPr txBox="1"/>
          <p:nvPr/>
        </p:nvSpPr>
        <p:spPr>
          <a:xfrm>
            <a:off x="428960" y="154099"/>
            <a:ext cx="72252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1900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Responsabilidad ética</a:t>
            </a:r>
            <a:endParaRPr b="1" sz="1900">
              <a:solidFill>
                <a:srgbClr val="FEBE4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2" name="Google Shape;382;p61"/>
          <p:cNvSpPr txBox="1"/>
          <p:nvPr/>
        </p:nvSpPr>
        <p:spPr>
          <a:xfrm>
            <a:off x="428969" y="475735"/>
            <a:ext cx="808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2530">
                <a:solidFill>
                  <a:srgbClr val="EFEFEF"/>
                </a:solidFill>
              </a:rPr>
              <a:t>Consecuencias públicas</a:t>
            </a:r>
            <a:endParaRPr b="1" sz="272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2"/>
          <p:cNvSpPr/>
          <p:nvPr/>
        </p:nvSpPr>
        <p:spPr>
          <a:xfrm>
            <a:off x="9486350" y="3997725"/>
            <a:ext cx="282300" cy="282300"/>
          </a:xfrm>
          <a:prstGeom prst="rect">
            <a:avLst/>
          </a:prstGeom>
          <a:solidFill>
            <a:srgbClr val="5FC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62"/>
          <p:cNvSpPr txBox="1"/>
          <p:nvPr/>
        </p:nvSpPr>
        <p:spPr>
          <a:xfrm>
            <a:off x="608725" y="1708461"/>
            <a:ext cx="79029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rPr b="1" lang="es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“El objetivo de la comunicación de la ciencia </a:t>
            </a:r>
            <a:endParaRPr b="1" sz="2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rPr b="1" lang="es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no es solo transmitir hechos, </a:t>
            </a:r>
            <a:endParaRPr b="1" sz="2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rPr b="1" lang="es" sz="2600">
                <a:solidFill>
                  <a:srgbClr val="FFCA55"/>
                </a:solidFill>
                <a:latin typeface="Raleway"/>
                <a:ea typeface="Raleway"/>
                <a:cs typeface="Raleway"/>
                <a:sym typeface="Raleway"/>
              </a:rPr>
              <a:t>sino también </a:t>
            </a:r>
            <a:r>
              <a:rPr b="1" lang="es" sz="2700">
                <a:solidFill>
                  <a:srgbClr val="FFCA55"/>
                </a:solidFill>
                <a:latin typeface="Raleway"/>
                <a:ea typeface="Raleway"/>
                <a:cs typeface="Raleway"/>
                <a:sym typeface="Raleway"/>
              </a:rPr>
              <a:t>significados</a:t>
            </a:r>
            <a:r>
              <a:rPr b="1" lang="es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”</a:t>
            </a:r>
            <a:endParaRPr b="1" sz="2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rPr lang="es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Burns, O’Connor &amp; Stocklmayer, 2003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t/>
            </a:r>
            <a:endParaRPr sz="2600">
              <a:solidFill>
                <a:srgbClr val="434343"/>
              </a:solidFill>
              <a:highlight>
                <a:srgbClr val="EFEFEF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222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3"/>
          <p:cNvSpPr txBox="1"/>
          <p:nvPr/>
        </p:nvSpPr>
        <p:spPr>
          <a:xfrm>
            <a:off x="1182250" y="1318425"/>
            <a:ext cx="66195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" sz="6000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rPr>
              <a:t>¡Muchas gracias!</a:t>
            </a:r>
            <a:endParaRPr b="1" i="0" sz="6000" u="none" cap="none" strike="noStrike">
              <a:solidFill>
                <a:srgbClr val="D9D9D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4" name="Google Shape;394;p63"/>
          <p:cNvSpPr txBox="1"/>
          <p:nvPr/>
        </p:nvSpPr>
        <p:spPr>
          <a:xfrm>
            <a:off x="1238525" y="3455625"/>
            <a:ext cx="60012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Bióloga, magíster en periodismo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Comunicadora científica y Presidenta de ACHIPEC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macarojas.abalos@gmail.com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5" name="Google Shape;395;p63"/>
          <p:cNvSpPr/>
          <p:nvPr/>
        </p:nvSpPr>
        <p:spPr>
          <a:xfrm>
            <a:off x="878988" y="567038"/>
            <a:ext cx="206025" cy="316119"/>
          </a:xfrm>
          <a:custGeom>
            <a:rect b="b" l="l" r="r" t="t"/>
            <a:pathLst>
              <a:path extrusionOk="0" h="16339" w="8241">
                <a:moveTo>
                  <a:pt x="0" y="0"/>
                </a:moveTo>
                <a:lnTo>
                  <a:pt x="8241" y="8241"/>
                </a:lnTo>
                <a:lnTo>
                  <a:pt x="142" y="16339"/>
                </a:lnTo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63"/>
          <p:cNvSpPr/>
          <p:nvPr/>
        </p:nvSpPr>
        <p:spPr>
          <a:xfrm>
            <a:off x="1008813" y="567038"/>
            <a:ext cx="206025" cy="316119"/>
          </a:xfrm>
          <a:custGeom>
            <a:rect b="b" l="l" r="r" t="t"/>
            <a:pathLst>
              <a:path extrusionOk="0" h="16339" w="8241">
                <a:moveTo>
                  <a:pt x="0" y="0"/>
                </a:moveTo>
                <a:lnTo>
                  <a:pt x="8241" y="8241"/>
                </a:lnTo>
                <a:lnTo>
                  <a:pt x="142" y="16339"/>
                </a:lnTo>
              </a:path>
            </a:pathLst>
          </a:cu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63"/>
          <p:cNvSpPr txBox="1"/>
          <p:nvPr/>
        </p:nvSpPr>
        <p:spPr>
          <a:xfrm>
            <a:off x="1214850" y="2928175"/>
            <a:ext cx="49989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MACARENA ROJAS ABALOS</a:t>
            </a:r>
            <a:endParaRPr b="1" i="0" sz="14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8" name="Google Shape;398;p63"/>
          <p:cNvSpPr/>
          <p:nvPr/>
        </p:nvSpPr>
        <p:spPr>
          <a:xfrm>
            <a:off x="1291050" y="2606457"/>
            <a:ext cx="56700" cy="567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3"/>
          <p:cNvSpPr/>
          <p:nvPr/>
        </p:nvSpPr>
        <p:spPr>
          <a:xfrm>
            <a:off x="2183025" y="2606457"/>
            <a:ext cx="56700" cy="567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3"/>
          <p:cNvSpPr/>
          <p:nvPr/>
        </p:nvSpPr>
        <p:spPr>
          <a:xfrm>
            <a:off x="3075000" y="2606457"/>
            <a:ext cx="56700" cy="567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3"/>
          <p:cNvSpPr/>
          <p:nvPr/>
        </p:nvSpPr>
        <p:spPr>
          <a:xfrm>
            <a:off x="3966975" y="2606457"/>
            <a:ext cx="56700" cy="567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3"/>
          <p:cNvSpPr/>
          <p:nvPr/>
        </p:nvSpPr>
        <p:spPr>
          <a:xfrm>
            <a:off x="4858950" y="2606457"/>
            <a:ext cx="56700" cy="567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63"/>
          <p:cNvSpPr/>
          <p:nvPr/>
        </p:nvSpPr>
        <p:spPr>
          <a:xfrm>
            <a:off x="9486350" y="3997725"/>
            <a:ext cx="282300" cy="282300"/>
          </a:xfrm>
          <a:prstGeom prst="rect">
            <a:avLst/>
          </a:prstGeom>
          <a:solidFill>
            <a:srgbClr val="5FC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63"/>
          <p:cNvCxnSpPr/>
          <p:nvPr/>
        </p:nvCxnSpPr>
        <p:spPr>
          <a:xfrm>
            <a:off x="1336750" y="3324875"/>
            <a:ext cx="3918000" cy="0"/>
          </a:xfrm>
          <a:prstGeom prst="straightConnector1">
            <a:avLst/>
          </a:prstGeom>
          <a:noFill/>
          <a:ln cap="flat" cmpd="sng" w="19050">
            <a:solidFill>
              <a:srgbClr val="FFCA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63"/>
          <p:cNvSpPr/>
          <p:nvPr/>
        </p:nvSpPr>
        <p:spPr>
          <a:xfrm>
            <a:off x="0" y="4154075"/>
            <a:ext cx="419100" cy="98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3"/>
          <p:cNvSpPr/>
          <p:nvPr/>
        </p:nvSpPr>
        <p:spPr>
          <a:xfrm>
            <a:off x="8724900" y="0"/>
            <a:ext cx="419100" cy="98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